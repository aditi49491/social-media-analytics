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7"/>
    <p:sldId id="264" r:id="rId10"/>
    <p:sldId id="267" r:id="rId18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science course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45.8</c:v>
                </c:pt>
                <c:pt idx="1">
                  <c:v>42.5</c:v>
                </c:pt>
                <c:pt idx="2">
                  <c:v>43</c:v>
                </c:pt>
                <c:pt idx="3">
                  <c:v>45.8</c:v>
                </c:pt>
                <c:pt idx="4">
                  <c:v>60</c:v>
                </c:pt>
                <c:pt idx="5">
                  <c:v>49.5</c:v>
                </c:pt>
                <c:pt idx="6">
                  <c:v>45.5</c:v>
                </c:pt>
                <c:pt idx="7">
                  <c:v>32.8</c:v>
                </c:pt>
                <c:pt idx="8">
                  <c:v>38.4</c:v>
                </c:pt>
                <c:pt idx="9">
                  <c:v>40.2</c:v>
                </c:pt>
                <c:pt idx="10">
                  <c:v>46.4</c:v>
                </c:pt>
                <c:pt idx="11">
                  <c:v>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MBA</c:v>
                </c:pt>
              </c:strCache>
            </c:strRef>
          </c:tx>
          <c:spPr>
            <a:solidFill>
              <a:srgbClr val="3FC1C9"/>
            </a:solidFill>
            <a:ln w="38100" cap="flat">
              <a:solidFill>
                <a:srgbClr val="3FC1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FC1C9"/>
              </a:solidFill>
              <a:ln w="9525" cap="flat">
                <a:solidFill>
                  <a:srgbClr val="3FC1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79.8</c:v>
                </c:pt>
                <c:pt idx="1">
                  <c:v>75.2</c:v>
                </c:pt>
                <c:pt idx="2">
                  <c:v>71</c:v>
                </c:pt>
                <c:pt idx="3">
                  <c:v>67.8</c:v>
                </c:pt>
                <c:pt idx="4">
                  <c:v>82.4</c:v>
                </c:pt>
                <c:pt idx="5">
                  <c:v>88.2</c:v>
                </c:pt>
                <c:pt idx="6">
                  <c:v>87</c:v>
                </c:pt>
                <c:pt idx="7">
                  <c:v>77.6</c:v>
                </c:pt>
                <c:pt idx="8">
                  <c:v>60</c:v>
                </c:pt>
                <c:pt idx="9">
                  <c:v>52.5</c:v>
                </c:pt>
                <c:pt idx="10">
                  <c:v>79.6</c:v>
                </c:pt>
                <c:pt idx="11">
                  <c:v>82.8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%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Meta
(volume)</c:v>
                  </c:pt>
                  <c:pt idx="1">
                    <c:v>LinkedIn
(quality)</c:v>
                  </c:pt>
                  <c:pt idx="2">
                    <c:v>Google
(intent)</c:v>
                  </c:pt>
                  <c:pt idx="3">
                    <c:v>Retargeting
(all)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8213D"/>
                </a:solidFill>
                <a:latin typeface="Calibri"/>
              </a:rPr>
              <a:t>Enrollments credited per channel (of 161)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Last-click</c:v>
                </c:pt>
              </c:strCache>
            </c:strRef>
          </c:tx>
          <c:spPr>
            <a:solidFill>
              <a:srgbClr val="9DB4C0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>
                    <a:solidFill>
                      <a:srgbClr val="18213D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Meta</c:v>
                </c:pt>
                <c:pt idx="1">
                  <c:v>LinkedIn</c:v>
                </c:pt>
                <c:pt idx="2">
                  <c:v>Google</c:v>
                </c:pt>
                <c:pt idx="3">
                  <c:v>Retargeting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7</c:v>
                </c:pt>
                <c:pt idx="2">
                  <c:v>34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Position-based (40/20/40)</c:v>
                </c:pt>
              </c:strCache>
            </c:strRef>
          </c:tx>
          <c:spPr>
            <a:solidFill>
              <a:srgbClr val="065A82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100">
                    <a:solidFill>
                      <a:srgbClr val="18213D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Meta</c:v>
                </c:pt>
                <c:pt idx="1">
                  <c:v>LinkedIn</c:v>
                </c:pt>
                <c:pt idx="2">
                  <c:v>Google</c:v>
                </c:pt>
                <c:pt idx="3">
                  <c:v>Retargeting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47.4</c:v>
                </c:pt>
                <c:pt idx="1">
                  <c:v>29.4</c:v>
                </c:pt>
                <c:pt idx="2">
                  <c:v>39.2</c:v>
                </c:pt>
                <c:pt idx="3">
                  <c:v>45.0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DB4C0"/>
            </a:solidFill>
          </a:ln>
        </c:spPr>
        <c:txPr>
          <a:bodyPr/>
          <a:lstStyle/>
          <a:p>
            <a:pPr>
              <a:defRPr sz="1200">
                <a:solidFill>
                  <a:srgbClr val="18213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18213D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18872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3FC1C9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Data-Driven Growth Plan for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upGrad's M.Sc. in Data Science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Google Trends, Meta Ads Library &amp; funnel analytics to plan, target, and measure a lead-generation campaign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800600"/>
            <a:ext cx="2011680" cy="0"/>
          </a:xfrm>
          <a:prstGeom prst="line">
            <a:avLst/>
          </a:prstGeom>
          <a:noFill/>
          <a:ln w="31750">
            <a:solidFill>
              <a:srgbClr val="3FC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upGrad — Social Media Analytics Application  |  [Your Name]  |  22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prove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126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upGrad's Data Science portfolio (IIIT-Bangalore PG Diploma, LJMU M.Sc.) sits in a category where demand is seasonal, competition is dense (Simplilearn, Great Learning, Coursera, Intellipaat), and cost-per-lead determines whether a campaign is fundable. This project builds a campaign plan the way I'd actually run it on the job — grounded in trend data and competitor ad intelligence, not guesswork.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0" y="1554480"/>
            <a:ext cx="82296" cy="1234440"/>
          </a:xfrm>
          <a:prstGeom prst="rect">
            <a:avLst/>
          </a:prstGeom>
          <a:solidFill>
            <a:srgbClr val="3FC1C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1554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8040" y="184708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qualified lead volume for the M.Sc. Data Science program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3063240"/>
            <a:ext cx="82296" cy="1234440"/>
          </a:xfrm>
          <a:prstGeom prst="rect">
            <a:avLst/>
          </a:prstGeom>
          <a:solidFill>
            <a:srgbClr val="3FC1C9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3063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335584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Trend-timed, platform-matched, funnel-measured campaign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4572000"/>
            <a:ext cx="82296" cy="1234440"/>
          </a:xfrm>
          <a:prstGeom prst="rect">
            <a:avLst/>
          </a:prstGeom>
          <a:solidFill>
            <a:srgbClr val="3FC1C9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4572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48646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backed by a data source or a stated, testable hypothesis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CATEGORY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program I'm marketing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 Million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on upGrad, across 100+ countries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12–18 Months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20440" y="242316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Diploma (IIIT-B) and M.Sc. (LJMU) Data Science tracks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242316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upGrad learners report positive career impact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98280" y="242316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competitors to benchmark: Simplilearn, Great Learning, Coursera, Intellipaat, Edureka, Emeritus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upGrad's Data Science line partners with IIIT-Bangalore and Liverpool John Moores University, and the IIIT-B PG Diploma was the first such program validated by NASSCOM FutureSkills — a credibility angle worth leading with in ad creative aimed at working professionals evaluating several bootcamps at once.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DEMAND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Trends: when to spend, when to hold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Google Trends export (India, past 12 months: Sep 2025–Sep 2026), indexed 0–100. “online MBA” consistently outsearches “data science course” all year; “upskilling” stays near-zero as a standalone term and is excluded from the chart.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103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 peak: new financial year (April start) + post-exam-results window drives the year's strongest search interest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0920" y="29077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290779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Dec–Jan secondary lift: appraisal season + New Year resolutions, smaller than the May–Jul window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0920" y="371246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80960" y="3712464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Aug–Oct trough: hold always-on budget low, don't chase CPL here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0920" y="451713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80960" y="451713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40–45% of quarterly ad spend into late-Apr through Jun, with a smaller top-up in the last two weeks of Dec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COMPETITIVE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 Library teardown method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Library is public and free — search any competitor page name to see every ad they're currently running. We pulled 7 live Simplilearn ads and 8 live Great Learning ads (India, Meta Ad Library, Sep 2026) and scored them on this rubric.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881360" cy="600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8840"/>
            <a:ext cx="15544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198840"/>
            <a:ext cx="88696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lean credential/feature-led, not fear or FOMO — no salary-shock headlines in either brand's set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03840"/>
            <a:ext cx="10881360" cy="600000"/>
          </a:xfrm>
          <a:prstGeom prst="roundRect">
            <a:avLst>
              <a:gd name="adj" fmla="val 10256"/>
            </a:avLst>
          </a:prstGeom>
          <a:solidFill>
            <a:srgbClr val="DCEAF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53840"/>
            <a:ext cx="15544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853840"/>
            <a:ext cx="88696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Simplilearn: feature-checklist proof (exam count, money-back guarantee)  |  Great Learning: institution-prestige proof (IIT Bombay, UT Austin, Forbes #1)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58840"/>
            <a:ext cx="10881360" cy="600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08840"/>
            <a:ext cx="15544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508840"/>
            <a:ext cx="88696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Simplilearn: low-friction “Learn More”  |  Great Learning: higher-intent “Apply Now”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3840"/>
            <a:ext cx="10881360" cy="600000"/>
          </a:xfrm>
          <a:prstGeom prst="roundRect">
            <a:avLst>
              <a:gd name="adj" fmla="val 10256"/>
            </a:avLst>
          </a:prstGeom>
          <a:solidFill>
            <a:srgbClr val="DCEA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3840"/>
            <a:ext cx="15544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4163840"/>
            <a:ext cx="88696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Learning: certificate-mockup creatives dominate  |  Simplilearn: no single format dominant in this pull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68840"/>
            <a:ext cx="10881360" cy="600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18840"/>
            <a:ext cx="15544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4818840"/>
            <a:ext cx="88696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Simplilearn: 1 of 7 ads had a real discount  |  Great Learning: zero scholarship/EMI mentions  |  neither uses real urgency (deadlines, limited seats)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438840"/>
            <a:ext cx="10881360" cy="9000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88840"/>
            <a:ext cx="24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The gap this points 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488840"/>
            <a:ext cx="10328880" cy="8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Neither competitor pairs a real offer with real urgency. A visible EMI/scholarship line plus a genuine deadline — something neither of the 15 ads sampled did — is open white space for upGrad's creative to claim.</a:t>
            </a:r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personas, two very different funnels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EAF3F7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Pivoter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121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24–30, IT/ops/analyst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move into data roles. Price-sensitive, compares 3–4 bootcamps, converts on EMI + placement-support proof.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096512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job titles (Business Analyst, QA, Support Engineer) × skills (Excel, SQL). Meta: lookalike of past leads, interest = “data analytics”, “career change”.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EAF3F7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8105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Upskiller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86600" y="2121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30–40, mid-level manager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works with data teams, wants credibility (LJMU degree, IIIT-B name) more than price. Converts on brand trust + peer testimonials.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4096512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seniority filter (Manager+) × industry (BFSI, IT services). Meta: custom audience from upGrad's CRM email list, warm retargeting.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PLATFORM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LinkedIn leads, Meta scales, Google captures intent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Ads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CREDIBILITY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content + InMail to job-title/seniority targets. Highest CPL but highest lead quality — use for The Upskiller persona and for brand-credibility creative (LJMU/IIIT-B badges).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800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CPL: premium, optimize for MQL rate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(FB/IG)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4340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RETARGETING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3400" y="2514600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Lead-gen forms + video testimonials for The Pivoter. Broad + lookalike audiences for top-of-funnel, CRM retargeting for warm leads nearing decision.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480060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4800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lowest CPL, optimize for cost-per-qualified-lead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Search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3816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CAPTURE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38160" y="2514600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on high-intent terms (“upGrad data science fees”, “best data science course India”) surfaced by the Trends work on slide 4. Catches people already comparing options.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480060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4800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highest conversion rate, lower volume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BUDGET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funnel-shaped budget, not an even split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monthly plan for a ₹5L test budget — rebalance weekly based on cost-per-qualified-lead by platform.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309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178040" y="1965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– 40%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78040" y="22585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reach + lookalikes for The Pivoter; carries the lead-volume target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78040" y="28803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– 25%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78040" y="31729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spend, but expected to deliver the highest MQL-to-SQL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78040" y="37947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– 20%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78040" y="40873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existing demand surfaced in the Trends read — don't underfund this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78040" y="47091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– 15%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50017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site-visitor audiences across platforms, always-on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I'd set — and report against weekly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vs ~1.4% category avg*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691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47872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47872" y="208483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47872" y="2788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≤ ₹450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64224" y="208483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64224" y="2788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rate, leads passing BANT screen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97696" y="1691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0576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80576" y="208483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₹3,100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80576" y="2788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fully loaded per enrollment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*The four numbers above are targets I'd set before launch, benchmarked against public edtech-industry CTR/CPL ranges — not results from a live campaign. Weekly report tracks spend, impressions, CTR, CPL and MQL rate by platform and by ad creative — built in Google Sheets, pulling from Meta Ads Manager + LinkedIn Campaign Manager + Google Ads exports, cross-referenced against CRM enrollment status.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764024"/>
            <a:ext cx="109728" cy="109728"/>
          </a:xfrm>
          <a:prstGeom prst="ellipse">
            <a:avLst/>
          </a:prstGeom>
          <a:solidFill>
            <a:srgbClr val="3FC1C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creative (CTR &lt; 1%) paused after 3 days, not 3 weeks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21224"/>
            <a:ext cx="109728" cy="109728"/>
          </a:xfrm>
          <a:prstGeom prst="ellipse">
            <a:avLst/>
          </a:prstGeom>
          <a:solidFill>
            <a:srgbClr val="3FC1C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budget reallocated weekly toward lowest cost-per-qualified-lead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678424"/>
            <a:ext cx="109728" cy="109728"/>
          </a:xfrm>
          <a:prstGeom prst="ellipse">
            <a:avLst/>
          </a:prstGeom>
          <a:solidFill>
            <a:srgbClr val="3FC1C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A/B test declared a winner only after reaching 95% confidence and its pre-calculated sample size (slide 11), not gut feel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follows real demand curves from Google Trends, not a flat monthly plan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2423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and offers are pressure-tested against live competitor ads, not built in a vacuum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is tracked to CPL, MQL rate and CAC — not just reach and likes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47548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process I'd bring to upGrad's social/performance marketing team: pull the data first, benchmark the category, build creative and targeting around what the numbers say — then prove it worked.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|   [Email]   |   [Phone / LinkedIn]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 spc="200">
                <a:solidFill>
                  <a:srgbClr val="1C7293"/>
                </a:solidFill>
                <a:latin typeface="Calibri"/>
              </a:rPr>
              <a:t>08 —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21295C"/>
                </a:solidFill>
                <a:latin typeface="Cambria"/>
              </a:rPr>
              <a:t>Last-click would tell me to cut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5B6B8C"/>
                </a:solidFill>
                <a:latin typeface="Calibri"/>
              </a:rPr>
              <a:t>Illustrative model on the ₹5L plan: 161 enrollments (≈ ₹3,100 each) traced as multi-touch journeys. The journey mix is assumed, not live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5B6B8C"/>
                </a:solidFill>
                <a:latin typeface="Calibr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20"/>
            <a:ext cx="2194560" cy="73152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00000"/>
            <a:ext cx="2194560" cy="3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LinkedIn 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000"/>
            <a:ext cx="219456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BFE9EC"/>
                </a:solidFill>
                <a:latin typeface="Calibri"/>
              </a:rPr>
              <a:t>first touch · 40%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90000"/>
            <a:ext cx="347472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1874520"/>
            <a:ext cx="2194560" cy="73152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1900000"/>
            <a:ext cx="2194560" cy="3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Google search 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240000"/>
            <a:ext cx="219456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BFE9EC"/>
                </a:solidFill>
                <a:latin typeface="Calibri"/>
              </a:rPr>
              <a:t>middle touch · 20% 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1990000"/>
            <a:ext cx="347472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2704" y="1874520"/>
            <a:ext cx="2194560" cy="73152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1900000"/>
            <a:ext cx="2194560" cy="3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Retargeting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4" y="2240000"/>
            <a:ext cx="219456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BFE9EC"/>
                </a:solidFill>
                <a:latin typeface="Calibri"/>
              </a:rPr>
              <a:t>last touch · 40% credit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874520"/>
            <a:ext cx="350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50" b="0" i="0">
                <a:solidFill>
                  <a:srgbClr val="18213D"/>
                </a:solidFill>
                <a:latin typeface="Calibri"/>
              </a:rPr>
              <a:t>One enrollment, three touches. Position-based attribution splits the credit instead of handing it all to the last click.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48640" y="2788920"/>
          <a:ext cx="6217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32320" y="2788920"/>
            <a:ext cx="4510000" cy="2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1295C"/>
                </a:solidFill>
                <a:latin typeface="Calibri"/>
              </a:rPr>
              <a:t>Media cost per enrollment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132320" y="3108960"/>
          <a:ext cx="4509999" cy="1463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10714"/>
                <a:gridCol w="1288571"/>
                <a:gridCol w="1610714"/>
              </a:tblGrid>
              <a:tr h="292608">
                <a:tc>
                  <a:txBody>
                    <a:bodyPr/>
                    <a:lstStyle/>
                    <a:p>
                      <a:pPr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anchor="ctr" marL="91440" marR="91440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Last-click</a:t>
                      </a:r>
                    </a:p>
                  </a:txBody>
                  <a:tcPr anchor="ctr" marL="91440" marR="91440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Position-based</a:t>
                      </a:r>
                    </a:p>
                  </a:txBody>
                  <a:tcPr anchor="ctr" marL="91440" marR="91440" marT="27432" marB="27432"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/>
                      <a:r>
                        <a:rPr sz="1200" b="1">
                          <a:solidFill>
                            <a:srgbClr val="18213D"/>
                          </a:solidFill>
                          <a:latin typeface="Calibri"/>
                        </a:rPr>
                        <a:t>Meta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8213D"/>
                          </a:solidFill>
                          <a:latin typeface="Calibri"/>
                        </a:rPr>
                        <a:t>₹10,000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8213D"/>
                          </a:solidFill>
                          <a:latin typeface="Calibri"/>
                        </a:rPr>
                        <a:t>₹4,219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/>
                      <a:r>
                        <a:rPr sz="1200" b="1">
                          <a:solidFill>
                            <a:srgbClr val="18213D"/>
                          </a:solidFill>
                          <a:latin typeface="Calibri"/>
                        </a:rPr>
                        <a:t>LinkedIn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8213D"/>
                          </a:solidFill>
                          <a:latin typeface="Calibri"/>
                        </a:rPr>
                        <a:t>₹17,857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8213D"/>
                          </a:solidFill>
                          <a:latin typeface="Calibri"/>
                        </a:rPr>
                        <a:t>₹4,252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/>
                      <a:r>
                        <a:rPr sz="1200" b="1">
                          <a:solidFill>
                            <a:srgbClr val="18213D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8213D"/>
                          </a:solidFill>
                          <a:latin typeface="Calibri"/>
                        </a:rPr>
                        <a:t>₹2,941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8213D"/>
                          </a:solidFill>
                          <a:latin typeface="Calibri"/>
                        </a:rPr>
                        <a:t>₹2,551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/>
                      <a:r>
                        <a:rPr sz="1200" b="1">
                          <a:solidFill>
                            <a:srgbClr val="18213D"/>
                          </a:solidFill>
                          <a:latin typeface="Calibri"/>
                        </a:rPr>
                        <a:t>Retargeting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8213D"/>
                          </a:solidFill>
                          <a:latin typeface="Calibri"/>
                        </a:rPr>
                        <a:t>₹750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8213D"/>
                          </a:solidFill>
                          <a:latin typeface="Calibri"/>
                        </a:rPr>
                        <a:t>₹1,667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132320" y="4700000"/>
            <a:ext cx="4510000" cy="12900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700000"/>
            <a:ext cx="4327120" cy="12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Last-click makes LinkedIn look 4× costlier than it is and Retargeting 2× cheaper, but retargeting only harvests audiences that Meta and LinkedIn built. I'd judge channels on position-based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80000"/>
            <a:ext cx="10515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B6B8C"/>
                </a:solidFill>
                <a:latin typeface="Calibri"/>
              </a:rPr>
              <a:t>Weights: 40% first touch, 40% last touch, 20% split across middle touches; two-touch journeys 50/50; single-touch 100%. In a live run, journeys come from UTM-tagged touchpoints joined to CRM enrollment status. Budget split from slide 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 spc="200">
                <a:solidFill>
                  <a:srgbClr val="1C7293"/>
                </a:solidFill>
                <a:latin typeface="Calibri"/>
              </a:rPr>
              <a:t>10 — TEST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21295C"/>
                </a:solidFill>
                <a:latin typeface="Cambria"/>
              </a:rPr>
              <a:t>The math behind “95% confidence”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5B6B8C"/>
                </a:solidFill>
                <a:latin typeface="Calibri"/>
              </a:rPr>
              <a:t>Two-sided test, 5% significance, 80% power. The sample needed depends on the metric being tested, and that changes what's practical.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5B6B8C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20"/>
            <a:ext cx="3931920" cy="3840480"/>
          </a:xfrm>
          <a:prstGeom prst="roundRect">
            <a:avLst>
              <a:gd name="adj" fmla="val 4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56616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 spc="100">
                <a:solidFill>
                  <a:srgbClr val="1C7293"/>
                </a:solidFill>
                <a:latin typeface="Calibri"/>
              </a:rPr>
              <a:t>MINIMUM DETECTABLE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000"/>
            <a:ext cx="356616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065A82"/>
                </a:solidFill>
                <a:latin typeface="Cambria"/>
              </a:rPr>
              <a:t>≈ 33,300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00000"/>
            <a:ext cx="356616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 i="0">
                <a:solidFill>
                  <a:srgbClr val="18213D"/>
                </a:solidFill>
                <a:latin typeface="Calibri"/>
              </a:rPr>
              <a:t>impressions per variant to detect a CTR lift from 1.8% to 2.1% (+0.3 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80000"/>
            <a:ext cx="356616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 spc="100">
                <a:solidFill>
                  <a:srgbClr val="1C7293"/>
                </a:solidFill>
                <a:latin typeface="Calibri"/>
              </a:rPr>
              <a:t>FORMULA (PER VARIANT)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60000"/>
            <a:ext cx="356616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i="0">
                <a:solidFill>
                  <a:srgbClr val="18213D"/>
                </a:solidFill>
                <a:latin typeface="Cambria"/>
              </a:rPr>
              <a:t>n = (z₁₋α/₂ + z₁₋β)² × [p₁(1−p₁) + p₂(1−p₂)] ÷ (p₂ − p₁)²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0000"/>
            <a:ext cx="356616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B6B8C"/>
                </a:solidFill>
                <a:latin typeface="Calibri"/>
              </a:rPr>
              <a:t>z = 1.96 for 95% confidence, 0.84 for 80% power. p₁ = baseline rate, p₂ = target rate.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754880" y="1874520"/>
          <a:ext cx="6886998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21750"/>
                <a:gridCol w="1657981"/>
                <a:gridCol w="2040592"/>
                <a:gridCol w="1466675"/>
              </a:tblGrid>
              <a:tr h="457200">
                <a:tc>
                  <a:txBody>
                    <a:bodyPr/>
                    <a:lstStyle/>
                    <a:p>
                      <a:pPr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 tested</a:t>
                      </a:r>
                    </a:p>
                  </a:txBody>
                  <a:tcPr anchor="ctr" marL="91440" marR="91440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Baseline → target</a:t>
                      </a:r>
                    </a:p>
                  </a:txBody>
                  <a:tcPr anchor="ctr" marL="91440" marR="91440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Needed per variant</a:t>
                      </a:r>
                    </a:p>
                  </a:txBody>
                  <a:tcPr anchor="ctr" marL="91440" marR="91440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Time to reach*</a:t>
                      </a:r>
                    </a:p>
                  </a:txBody>
                  <a:tcPr anchor="ctr" marL="91440" marR="91440" marT="27432" marB="27432"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sz="1250" b="1">
                          <a:solidFill>
                            <a:srgbClr val="18213D"/>
                          </a:solidFill>
                          <a:latin typeface="Calibri"/>
                        </a:rPr>
                        <a:t>CTR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1.8% → 2.1%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~33,300 impressions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~1.5 days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sz="1250" b="1">
                          <a:solidFill>
                            <a:srgbClr val="18213D"/>
                          </a:solidFill>
                          <a:latin typeface="Calibri"/>
                        </a:rPr>
                        <a:t>CTR (bigger lift)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1.8% → 2.5%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~6,700 impressions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&lt; 1 day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sz="1250" b="1">
                          <a:solidFill>
                            <a:srgbClr val="18213D"/>
                          </a:solidFill>
                          <a:latin typeface="Calibri"/>
                        </a:rPr>
                        <a:t>Click → lead rate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2.0% → 2.5%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~13,800 clicks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~5 weeks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sz="1250" b="1">
                          <a:solidFill>
                            <a:srgbClr val="18213D"/>
                          </a:solidFill>
                          <a:latin typeface="Calibri"/>
                        </a:rPr>
                        <a:t>MQL rate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32% → 36%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~2,200 leads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250" b="0">
                          <a:solidFill>
                            <a:srgbClr val="18213D"/>
                          </a:solidFill>
                          <a:latin typeface="Calibri"/>
                        </a:rPr>
                        <a:t>~9 months</a:t>
                      </a:r>
                    </a:p>
                  </a:txBody>
                  <a:tcPr anchor="ctr" marL="91440" marR="91440" marT="27432" marB="27432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754880" y="4300000"/>
            <a:ext cx="6887000" cy="141496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300000"/>
            <a:ext cx="6704120" cy="1414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CTR tests resolve in days; MQL-rate tests can't at this budget. So creative gets tested on CTR and CPL, and MQL rate stays a guardrail read on pooled data.</a:t>
            </a:r>
          </a:p>
          <a:p>
            <a:pPr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3-day pause rule on slide 10 holds up: ~66,000 impressions per variant by day 3, about twice the sample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0000"/>
            <a:ext cx="105156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B6B8C"/>
                </a:solidFill>
                <a:latin typeface="Calibri"/>
              </a:rPr>
              <a:t>*Assumptions: Meta test cell at ₹2L/month split across two variants, CPM ≈ ₹150 (assumed), CPL target ₹420, so ≈ 22,000 impressions and ≈ 400 clicks per variant per day. Replace with actuals after week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2026-09-22T14:56:37Z</dcterms:created>
  <dcterms:modified xsi:type="dcterms:W3CDTF">2026-09-22T14:56:37Z</dcterms:modified>
</cp:coreProperties>
</file>